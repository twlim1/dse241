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erriweath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0" roundtripDataSignature="AMtx7mgvywJ73fqWdYU01Q34FL9CQLC6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Venu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2 - mins</a:t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incident must be intentional – the result of a conscious calculation on the part of a perpetrator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incident must entail some level of violence or immediate threat of violence -including property violence, as well as violence against people.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perpetrators of the incidents must be sub-national actors. The database does not include acts of state terrorism (terrorism committed by a country against another country or against their citizen)</a:t>
            </a:r>
            <a:endParaRPr/>
          </a:p>
        </p:txBody>
      </p:sp>
      <p:sp>
        <p:nvSpPr>
          <p:cNvPr id="116" name="Google Shape;11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Yogesh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3 - mins</a:t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Attack Type Hierarchy: Assassination Hijacking Kidnapping Barricade Incident Bombing/Explosion Armed Assault Unarmed Assault Facility/Infrastructure Attack Unknown</a:t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>
                <a:solidFill>
                  <a:srgbClr val="555555"/>
                </a:solidFill>
                <a:latin typeface="Merriweather"/>
                <a:ea typeface="Merriweather"/>
                <a:cs typeface="Merriweather"/>
                <a:sym typeface="Merriweather"/>
              </a:rPr>
              <a:t>Teck </a:t>
            </a:r>
            <a:r>
              <a:rPr lang="en-US">
                <a:solidFill>
                  <a:srgbClr val="555555"/>
                </a:solidFill>
                <a:latin typeface="Merriweather"/>
                <a:ea typeface="Merriweather"/>
                <a:cs typeface="Merriweather"/>
                <a:sym typeface="Merriweather"/>
              </a:rPr>
              <a:t> - 2 mins</a:t>
            </a:r>
            <a:endParaRPr>
              <a:solidFill>
                <a:srgbClr val="5555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>
                <a:solidFill>
                  <a:srgbClr val="555555"/>
                </a:solidFill>
                <a:latin typeface="Merriweather"/>
                <a:ea typeface="Merriweather"/>
                <a:cs typeface="Merriweather"/>
                <a:sym typeface="Merriweather"/>
              </a:rPr>
              <a:t>Is visualization meant for </a:t>
            </a:r>
            <a:r>
              <a:rPr b="1" lang="en-US">
                <a:solidFill>
                  <a:srgbClr val="555555"/>
                </a:solidFill>
                <a:latin typeface="Merriweather"/>
                <a:ea typeface="Merriweather"/>
                <a:cs typeface="Merriweather"/>
                <a:sym typeface="Merriweather"/>
              </a:rPr>
              <a:t>data exploration</a:t>
            </a:r>
            <a:r>
              <a:rPr lang="en-US">
                <a:solidFill>
                  <a:srgbClr val="555555"/>
                </a:solidFill>
                <a:latin typeface="Merriweather"/>
                <a:ea typeface="Merriweather"/>
                <a:cs typeface="Merriweather"/>
                <a:sym typeface="Merriweather"/>
              </a:rPr>
              <a:t>, hypothesis confirmation or presentation?</a:t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4"/>
          <p:cNvSpPr txBox="1"/>
          <p:nvPr>
            <p:ph type="ctrTitle"/>
          </p:nvPr>
        </p:nvSpPr>
        <p:spPr>
          <a:xfrm>
            <a:off x="603504" y="770467"/>
            <a:ext cx="107823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Calibri"/>
              <a:buNone/>
              <a:defRPr sz="8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" type="subTitle"/>
          </p:nvPr>
        </p:nvSpPr>
        <p:spPr>
          <a:xfrm>
            <a:off x="667512" y="4206876"/>
            <a:ext cx="9228201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2800"/>
              <a:buNone/>
              <a:defRPr sz="2800"/>
            </a:lvl2pPr>
            <a:lvl3pPr lvl="2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2400"/>
              <a:buNone/>
              <a:defRPr sz="2400"/>
            </a:lvl3pPr>
            <a:lvl4pPr lvl="3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/>
            </a:lvl4pPr>
            <a:lvl5pPr lvl="4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/>
            </a:lvl5pPr>
            <a:lvl6pPr lvl="5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/>
            </a:lvl6pPr>
            <a:lvl7pPr lvl="6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/>
            </a:lvl7pPr>
            <a:lvl8pPr lvl="7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/>
            </a:lvl8pPr>
            <a:lvl9pPr lvl="8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14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1pPr>
            <a:lvl2pPr indent="-3429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1pPr>
            <a:lvl2pPr indent="-3429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3"/>
          <p:cNvSpPr txBox="1"/>
          <p:nvPr>
            <p:ph type="ctrTitle"/>
          </p:nvPr>
        </p:nvSpPr>
        <p:spPr>
          <a:xfrm>
            <a:off x="603504" y="770467"/>
            <a:ext cx="107823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Calibri"/>
              <a:buNone/>
              <a:defRPr sz="8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" type="subTitle"/>
          </p:nvPr>
        </p:nvSpPr>
        <p:spPr>
          <a:xfrm>
            <a:off x="667512" y="4206876"/>
            <a:ext cx="9228201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  <a:defRPr sz="2800"/>
            </a:lvl2pPr>
            <a:lvl3pPr lvl="2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/>
            </a:lvl3pPr>
            <a:lvl4pPr lvl="3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4pPr>
            <a:lvl5pPr lvl="4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5pPr>
            <a:lvl6pPr lvl="5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6pPr>
            <a:lvl7pPr lvl="6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7pPr>
            <a:lvl8pPr lvl="7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8pPr>
            <a:lvl9pPr lvl="8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44" name="Google Shape;44;p13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603504" y="767419"/>
            <a:ext cx="10780776" cy="33558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Calibri"/>
              <a:buNone/>
              <a:defRPr b="0" sz="8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" type="body"/>
          </p:nvPr>
        </p:nvSpPr>
        <p:spPr>
          <a:xfrm>
            <a:off x="667512" y="4204209"/>
            <a:ext cx="922629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17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" type="body"/>
          </p:nvPr>
        </p:nvSpPr>
        <p:spPr>
          <a:xfrm>
            <a:off x="676656" y="1998134"/>
            <a:ext cx="466344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1pPr>
            <a:lvl2pPr indent="-355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 sz="1800"/>
            </a:lvl3pPr>
            <a:lvl4pPr indent="-3302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4pPr>
            <a:lvl5pPr indent="-3302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5pPr>
            <a:lvl6pPr indent="-3302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6pPr>
            <a:lvl7pPr indent="-3302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7pPr>
            <a:lvl8pPr indent="-3302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8pPr>
            <a:lvl9pPr indent="-3302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9pPr>
          </a:lstStyle>
          <a:p/>
        </p:txBody>
      </p:sp>
      <p:sp>
        <p:nvSpPr>
          <p:cNvPr id="56" name="Google Shape;56;p18"/>
          <p:cNvSpPr txBox="1"/>
          <p:nvPr>
            <p:ph idx="2" type="body"/>
          </p:nvPr>
        </p:nvSpPr>
        <p:spPr>
          <a:xfrm>
            <a:off x="6011330" y="1998134"/>
            <a:ext cx="466344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1pPr>
            <a:lvl2pPr indent="-355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 sz="1800"/>
            </a:lvl3pPr>
            <a:lvl4pPr indent="-3302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4pPr>
            <a:lvl5pPr indent="-3302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5pPr>
            <a:lvl6pPr indent="-3302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6pPr>
            <a:lvl7pPr indent="-3302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7pPr>
            <a:lvl8pPr indent="-3302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8pPr>
            <a:lvl9pPr indent="-3302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9pPr>
          </a:lstStyle>
          <a:p/>
        </p:txBody>
      </p:sp>
      <p:sp>
        <p:nvSpPr>
          <p:cNvPr id="57" name="Google Shape;57;p18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" type="body"/>
          </p:nvPr>
        </p:nvSpPr>
        <p:spPr>
          <a:xfrm>
            <a:off x="676656" y="2040467"/>
            <a:ext cx="4663440" cy="7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200"/>
              <a:buNone/>
              <a:defRPr b="0" sz="2200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9"/>
          <p:cNvSpPr txBox="1"/>
          <p:nvPr>
            <p:ph idx="2" type="body"/>
          </p:nvPr>
        </p:nvSpPr>
        <p:spPr>
          <a:xfrm>
            <a:off x="676656" y="2753084"/>
            <a:ext cx="46634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1pPr>
            <a:lvl2pPr indent="-355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 sz="1800"/>
            </a:lvl3pPr>
            <a:lvl4pPr indent="-3302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4pPr>
            <a:lvl5pPr indent="-3302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5pPr>
            <a:lvl6pPr indent="-3302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6pPr>
            <a:lvl7pPr indent="-3302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7pPr>
            <a:lvl8pPr indent="-3302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8pPr>
            <a:lvl9pPr indent="-3302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9pPr>
          </a:lstStyle>
          <a:p/>
        </p:txBody>
      </p:sp>
      <p:sp>
        <p:nvSpPr>
          <p:cNvPr id="64" name="Google Shape;64;p19"/>
          <p:cNvSpPr txBox="1"/>
          <p:nvPr>
            <p:ph idx="3" type="body"/>
          </p:nvPr>
        </p:nvSpPr>
        <p:spPr>
          <a:xfrm>
            <a:off x="6007608" y="2038435"/>
            <a:ext cx="466344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200"/>
              <a:buNone/>
              <a:defRPr b="0" sz="2200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19"/>
          <p:cNvSpPr txBox="1"/>
          <p:nvPr>
            <p:ph idx="4" type="body"/>
          </p:nvPr>
        </p:nvSpPr>
        <p:spPr>
          <a:xfrm>
            <a:off x="6007608" y="2750990"/>
            <a:ext cx="46634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1pPr>
            <a:lvl2pPr indent="-355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 sz="1800"/>
            </a:lvl3pPr>
            <a:lvl4pPr indent="-3302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4pPr>
            <a:lvl5pPr indent="-3302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5pPr>
            <a:lvl6pPr indent="-3302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6pPr>
            <a:lvl7pPr indent="-3302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7pPr>
            <a:lvl8pPr indent="-3302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8pPr>
            <a:lvl9pPr indent="-3302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9pPr>
          </a:lstStyle>
          <a:p/>
        </p:txBody>
      </p:sp>
      <p:sp>
        <p:nvSpPr>
          <p:cNvPr id="66" name="Google Shape;66;p19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2"/>
          <p:cNvSpPr txBox="1"/>
          <p:nvPr>
            <p:ph type="title"/>
          </p:nvPr>
        </p:nvSpPr>
        <p:spPr>
          <a:xfrm>
            <a:off x="8261404" y="542282"/>
            <a:ext cx="33832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>
            <a:off x="762000" y="762000"/>
            <a:ext cx="6096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3200"/>
              <a:buChar char=" "/>
              <a:defRPr sz="3200"/>
            </a:lvl1pPr>
            <a:lvl2pPr indent="-4064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  <a:defRPr sz="2800"/>
            </a:lvl2pPr>
            <a:lvl3pPr indent="-3810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3pPr>
            <a:lvl4pPr indent="-355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4pPr>
            <a:lvl5pPr indent="-355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5pPr>
            <a:lvl6pPr indent="-355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6pPr>
            <a:lvl7pPr indent="-355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7pPr>
            <a:lvl8pPr indent="-355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8pPr>
            <a:lvl9pPr indent="-355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9pPr>
          </a:lstStyle>
          <a:p/>
        </p:txBody>
      </p:sp>
      <p:sp>
        <p:nvSpPr>
          <p:cNvPr id="82" name="Google Shape;82;p22"/>
          <p:cNvSpPr txBox="1"/>
          <p:nvPr>
            <p:ph idx="2" type="body"/>
          </p:nvPr>
        </p:nvSpPr>
        <p:spPr>
          <a:xfrm>
            <a:off x="8275982" y="2511813"/>
            <a:ext cx="3398520" cy="312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alibri"/>
              <a:buNone/>
              <a:defRPr sz="18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22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solidFill>
          <a:schemeClr val="accen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649224" y="5418667"/>
            <a:ext cx="10780776" cy="6132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  <a:defRPr b="0" sz="3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/>
          <p:nvPr>
            <p:ph idx="2" type="pic"/>
          </p:nvPr>
        </p:nvSpPr>
        <p:spPr>
          <a:xfrm>
            <a:off x="0" y="0"/>
            <a:ext cx="12192000" cy="5330952"/>
          </a:xfrm>
          <a:prstGeom prst="rect">
            <a:avLst/>
          </a:prstGeom>
          <a:solidFill>
            <a:srgbClr val="B7E0E9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  <a:defRPr b="0" i="1" sz="2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676656" y="5909735"/>
            <a:ext cx="9229344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0" name="Google Shape;90;p23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sz="10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" type="body"/>
          </p:nvPr>
        </p:nvSpPr>
        <p:spPr>
          <a:xfrm rot="5400000">
            <a:off x="4170426" y="-1482090"/>
            <a:ext cx="3766185" cy="1075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1pPr>
            <a:lvl2pPr indent="-3429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>
            <p:ph type="title"/>
          </p:nvPr>
        </p:nvSpPr>
        <p:spPr>
          <a:xfrm rot="5400000">
            <a:off x="7658100" y="1781175"/>
            <a:ext cx="48006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" type="body"/>
          </p:nvPr>
        </p:nvSpPr>
        <p:spPr>
          <a:xfrm rot="5400000">
            <a:off x="1938338" y="-452437"/>
            <a:ext cx="5400675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1pPr>
            <a:lvl2pPr indent="-3429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  <a:defRPr b="0" i="0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Arial"/>
              <a:buChar char=" "/>
              <a:defRPr b="0" i="0" sz="2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Arial"/>
              <a:buChar char=" "/>
              <a:defRPr b="0" i="0" sz="2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Arial"/>
              <a:buChar char=" "/>
              <a:defRPr b="0" i="1" sz="20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  <a:defRPr b="0" i="0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  <a:defRPr b="0" i="0" sz="2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  <a:defRPr b="0" i="0" sz="2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Char char=" "/>
              <a:defRPr b="0" i="1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start.umd.edu/gtd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erial view of skyscrapers&#10;" id="110" name="Google Shape;110;p1"/>
          <p:cNvPicPr preferRelativeResize="0"/>
          <p:nvPr/>
        </p:nvPicPr>
        <p:blipFill rotWithShape="1">
          <a:blip r:embed="rId3">
            <a:alphaModFix amt="40000"/>
          </a:blip>
          <a:srcRect b="8411" l="0" r="0" t="732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"/>
          <p:cNvSpPr txBox="1"/>
          <p:nvPr>
            <p:ph type="ctrTitle"/>
          </p:nvPr>
        </p:nvSpPr>
        <p:spPr>
          <a:xfrm>
            <a:off x="603504" y="770467"/>
            <a:ext cx="107823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Global Terrorism</a:t>
            </a:r>
            <a:endParaRPr/>
          </a:p>
        </p:txBody>
      </p:sp>
      <p:sp>
        <p:nvSpPr>
          <p:cNvPr id="112" name="Google Shape;112;p1"/>
          <p:cNvSpPr txBox="1"/>
          <p:nvPr>
            <p:ph idx="1" type="subTitle"/>
          </p:nvPr>
        </p:nvSpPr>
        <p:spPr>
          <a:xfrm>
            <a:off x="667512" y="4639112"/>
            <a:ext cx="9228201" cy="738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40"/>
              <a:buNone/>
            </a:pPr>
            <a:r>
              <a:rPr lang="en-US" sz="2240">
                <a:solidFill>
                  <a:schemeClr val="lt1"/>
                </a:solidFill>
              </a:rPr>
              <a:t>DSE 241 Final Project Proposal</a:t>
            </a:r>
            <a:endParaRPr/>
          </a:p>
          <a:p>
            <a:pPr indent="0" lvl="0" marL="0" rtl="0" algn="l">
              <a:lnSpc>
                <a:spcPct val="6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2240"/>
              <a:buNone/>
            </a:pPr>
            <a:r>
              <a:rPr lang="en-US" sz="2240">
                <a:solidFill>
                  <a:schemeClr val="lt1"/>
                </a:solidFill>
              </a:rPr>
              <a:t>Team: Teck Lim, Venu Mamidala, Yogesh Bansal</a:t>
            </a:r>
            <a:endParaRPr/>
          </a:p>
          <a:p>
            <a:pPr indent="0" lvl="0" marL="0" rtl="0" algn="l">
              <a:lnSpc>
                <a:spcPct val="6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t/>
            </a:r>
            <a:endParaRPr sz="224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46D40"/>
              </a:buClr>
              <a:buSzPts val="5400"/>
              <a:buFont typeface="Calibri"/>
              <a:buNone/>
            </a:pPr>
            <a:r>
              <a:rPr lang="en-US">
                <a:solidFill>
                  <a:srgbClr val="746D40"/>
                </a:solidFill>
              </a:rPr>
              <a:t>Definition of Terrorism</a:t>
            </a:r>
            <a:endParaRPr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240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/>
              <a:t>The Global Terrorism Database (GTD)™ defines a terrorist attack as the threatened or actual use of illegal force and violence by a non-state actor to attain a political, economic, religious, or social goal through fear, coercion, or intimidation. </a:t>
            </a:r>
            <a:endParaRPr/>
          </a:p>
          <a:p>
            <a:pPr indent="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t/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⮚"/>
            </a:pPr>
            <a:r>
              <a:rPr lang="en-US"/>
              <a:t>The incident must be intentional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⮚"/>
            </a:pPr>
            <a:r>
              <a:rPr lang="en-US"/>
              <a:t>The incident must entail some level of violence or immediate threat of violence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⮚"/>
            </a:pPr>
            <a:r>
              <a:rPr lang="en-US"/>
              <a:t>The perpetrators of the incidents must be sub-national actors.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46D40"/>
              </a:buClr>
              <a:buSzPts val="5400"/>
              <a:buFont typeface="Calibri"/>
              <a:buNone/>
            </a:pPr>
            <a:r>
              <a:rPr lang="en-US">
                <a:solidFill>
                  <a:srgbClr val="746D40"/>
                </a:solidFill>
              </a:rPr>
              <a:t>Global Terrorism on the Rise?</a:t>
            </a:r>
            <a:endParaRPr/>
          </a:p>
        </p:txBody>
      </p:sp>
      <p:pic>
        <p:nvPicPr>
          <p:cNvPr id="126" name="Google Shape;126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288" y="2157731"/>
            <a:ext cx="6544747" cy="460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2413" y="2184693"/>
            <a:ext cx="5319587" cy="3693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6720840" y="0"/>
            <a:ext cx="5471160" cy="6858000"/>
          </a:xfrm>
          <a:prstGeom prst="rect">
            <a:avLst/>
          </a:prstGeom>
          <a:solidFill>
            <a:srgbClr val="D8D8D8">
              <a:alpha val="7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>
            <p:ph type="title"/>
          </p:nvPr>
        </p:nvSpPr>
        <p:spPr>
          <a:xfrm>
            <a:off x="7197213" y="499533"/>
            <a:ext cx="4345858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46D40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746D40"/>
                </a:solidFill>
              </a:rPr>
              <a:t>Dataset </a:t>
            </a:r>
            <a:endParaRPr/>
          </a:p>
        </p:txBody>
      </p:sp>
      <p:pic>
        <p:nvPicPr>
          <p:cNvPr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192" y="1967404"/>
            <a:ext cx="5451627" cy="26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>
            <p:ph idx="1" type="body"/>
          </p:nvPr>
        </p:nvSpPr>
        <p:spPr>
          <a:xfrm>
            <a:off x="7197212" y="2011680"/>
            <a:ext cx="4822231" cy="386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240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n-US"/>
              <a:t>Global Terrorism Database (GTD)™</a:t>
            </a:r>
            <a:endParaRPr/>
          </a:p>
          <a:p>
            <a:pPr indent="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⮚"/>
            </a:pPr>
            <a:r>
              <a:rPr lang="en-US"/>
              <a:t>Range from year 1970-2018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⮚"/>
            </a:pPr>
            <a:r>
              <a:rPr lang="en-US"/>
              <a:t>135 features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⮚"/>
            </a:pPr>
            <a:r>
              <a:rPr lang="en-US"/>
              <a:t>192,212 records</a:t>
            </a:r>
            <a:endParaRPr/>
          </a:p>
          <a:p>
            <a:pPr indent="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2298413" y="4662074"/>
            <a:ext cx="21729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https://start.umd.edu/gtd/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46D40"/>
              </a:buClr>
              <a:buSzPts val="5400"/>
              <a:buFont typeface="Calibri"/>
              <a:buNone/>
            </a:pPr>
            <a:r>
              <a:rPr lang="en-US">
                <a:solidFill>
                  <a:srgbClr val="746D40"/>
                </a:solidFill>
              </a:rPr>
              <a:t>Dataset Features</a:t>
            </a:r>
            <a:endParaRPr/>
          </a:p>
        </p:txBody>
      </p:sp>
      <p:sp>
        <p:nvSpPr>
          <p:cNvPr id="143" name="Google Shape;143;p5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240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⮚"/>
            </a:pPr>
            <a:r>
              <a:rPr lang="en-US"/>
              <a:t>Date (Year, Month, Day, ...)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⮚"/>
            </a:pPr>
            <a:r>
              <a:rPr lang="en-US"/>
              <a:t>Incident information (Summary, ...)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⮚"/>
            </a:pPr>
            <a:r>
              <a:rPr lang="en-US"/>
              <a:t>Location (Region, Country, State, City, Vicinity, Location, Latitude, Longitude, ...)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⮚"/>
            </a:pPr>
            <a:r>
              <a:rPr lang="en-US"/>
              <a:t>Attack information (Attack Type, Successful, Suicide Attack, ...)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⮚"/>
            </a:pPr>
            <a:r>
              <a:rPr lang="en-US"/>
              <a:t>Weapon information (Type, Sub-Type, ...)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⮚"/>
            </a:pPr>
            <a:r>
              <a:rPr lang="en-US"/>
              <a:t>Target/Victim information (Type , Sub-Type, Nationality, ...)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⮚"/>
            </a:pPr>
            <a:r>
              <a:rPr lang="en-US"/>
              <a:t>Perpetrator Information (Group Name, Sub-Group Name, Number of Captured, …)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Char char="⮚"/>
            </a:pPr>
            <a:r>
              <a:rPr lang="en-US"/>
              <a:t>Casualties and Consequences (Total Fatalities, Total Injured, Property Damage, …)</a:t>
            </a:r>
            <a:endParaRPr/>
          </a:p>
          <a:p>
            <a:pPr indent="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46D40"/>
              </a:buClr>
              <a:buSzPts val="5400"/>
              <a:buFont typeface="Calibri"/>
              <a:buNone/>
            </a:pPr>
            <a:r>
              <a:rPr lang="en-US">
                <a:solidFill>
                  <a:srgbClr val="746D40"/>
                </a:solidFill>
              </a:rPr>
              <a:t>Visualization Tasks</a:t>
            </a:r>
            <a:endParaRPr/>
          </a:p>
        </p:txBody>
      </p:sp>
      <p:sp>
        <p:nvSpPr>
          <p:cNvPr id="150" name="Google Shape;150;p6"/>
          <p:cNvSpPr txBox="1"/>
          <p:nvPr>
            <p:ph idx="1" type="body"/>
          </p:nvPr>
        </p:nvSpPr>
        <p:spPr>
          <a:xfrm>
            <a:off x="666713" y="2157725"/>
            <a:ext cx="107538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Noto Sans Symbols"/>
              <a:buChar char="⮚"/>
            </a:pPr>
            <a:r>
              <a:rPr lang="en-US" sz="2800"/>
              <a:t>Understand </a:t>
            </a:r>
            <a:r>
              <a:rPr lang="en-US" sz="2800"/>
              <a:t>Overall trend of terrorist attacks year-over-year</a:t>
            </a:r>
            <a:endParaRPr/>
          </a:p>
          <a:p>
            <a:pPr indent="-177800" lvl="0" marL="9144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Noto Sans Symbols"/>
              <a:buChar char="⮚"/>
            </a:pPr>
            <a:r>
              <a:rPr lang="en-US" sz="2800"/>
              <a:t>Understand d</a:t>
            </a:r>
            <a:r>
              <a:rPr lang="en-US" sz="2800"/>
              <a:t>istribution of attacks across regions &amp; countries</a:t>
            </a:r>
            <a:endParaRPr/>
          </a:p>
          <a:p>
            <a:pPr indent="-177800" lvl="0" marL="9144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Noto Sans Symbols"/>
              <a:buChar char="⮚"/>
            </a:pPr>
            <a:r>
              <a:rPr lang="en-US" sz="2800"/>
              <a:t>Distribution of c</a:t>
            </a:r>
            <a:r>
              <a:rPr lang="en-US" sz="2800"/>
              <a:t>asualties from terrorism across time, countries, attack type</a:t>
            </a:r>
            <a:endParaRPr/>
          </a:p>
          <a:p>
            <a:pPr indent="-177800" lvl="0" marL="9144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Noto Sans Symbols"/>
              <a:buChar char="⮚"/>
            </a:pPr>
            <a:r>
              <a:rPr lang="en-US" sz="2800"/>
              <a:t>Identify d</a:t>
            </a:r>
            <a:r>
              <a:rPr lang="en-US" sz="2800"/>
              <a:t>eadliest terrorist groups</a:t>
            </a:r>
            <a:endParaRPr/>
          </a:p>
          <a:p>
            <a:pPr indent="-177800" lvl="0" marL="9144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Noto Sans Symbols"/>
              <a:buChar char="⮚"/>
            </a:pPr>
            <a:r>
              <a:rPr lang="en-US" sz="2800"/>
              <a:t>Look up t</a:t>
            </a:r>
            <a:r>
              <a:rPr lang="en-US" sz="2800"/>
              <a:t>errorism prevention factors by understanding failed attempts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7464686" y="5403735"/>
            <a:ext cx="42432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46D40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746D40"/>
                </a:solidFill>
                <a:latin typeface="Calibri"/>
                <a:ea typeface="Calibri"/>
                <a:cs typeface="Calibri"/>
                <a:sym typeface="Calibri"/>
              </a:rPr>
              <a:t>Programming dominant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676661" y="1724810"/>
            <a:ext cx="42432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46D40"/>
              </a:buClr>
              <a:buSzPts val="3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27B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096" y="804333"/>
            <a:ext cx="9623977" cy="5269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34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2490" y="804333"/>
            <a:ext cx="8169189" cy="5269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rgbClr val="4B58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>
            <p:ph type="title"/>
          </p:nvPr>
        </p:nvSpPr>
        <p:spPr>
          <a:xfrm>
            <a:off x="657225" y="996625"/>
            <a:ext cx="3299700" cy="48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FFFFFF"/>
                </a:solidFill>
              </a:rPr>
              <a:t>Stakeholders </a:t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0" y="0"/>
            <a:ext cx="321733" cy="6858000"/>
          </a:xfrm>
          <a:prstGeom prst="rect">
            <a:avLst/>
          </a:prstGeom>
          <a:solidFill>
            <a:srgbClr val="323B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4702547" y="996625"/>
            <a:ext cx="6727834" cy="4864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58750" lvl="0" marL="9144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Primary: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Government Agencies (CIA, FBI, …)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91440" marR="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Secondary: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Public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1414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>
            <p:ph type="title"/>
          </p:nvPr>
        </p:nvSpPr>
        <p:spPr>
          <a:xfrm>
            <a:off x="5298615" y="1067403"/>
            <a:ext cx="5098114" cy="47231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>
                <a:solidFill>
                  <a:srgbClr val="FFFFFF"/>
                </a:solidFill>
              </a:rPr>
              <a:t>Q  / A</a:t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rgbClr val="4B58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0" y="0"/>
            <a:ext cx="816196" cy="6858000"/>
          </a:xfrm>
          <a:prstGeom prst="rect">
            <a:avLst/>
          </a:prstGeom>
          <a:solidFill>
            <a:srgbClr val="323B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tropolitan">
  <a:themeElements>
    <a:clrScheme name="Metropolitan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etropolitan">
  <a:themeElements>
    <a:clrScheme name="Metropolitan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2021-02-04T08:03:23Z</dcterms:created>
  <dc:creator>Teck Lim</dc:creator>
</cp:coreProperties>
</file>